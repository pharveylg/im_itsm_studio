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Operational Analysis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BFDBFE"/>
                </a:solidFill>
                <a:latin typeface="Calibri"/>
              </a:rPr>
              <a:t>Major Incident Analysis in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  <a:latin typeface="Calibri"/>
              </a:rPr>
              <a:t>How OAS-201 Major Incident Communications connects to every other 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937760"/>
            <a:ext cx="1705356" cy="310896"/>
          </a:xfrm>
          <a:prstGeom prst="roundRect">
            <a:avLst/>
          </a:prstGeom>
          <a:solidFill>
            <a:srgbClr val="1629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BFDBFE"/>
                </a:solidFill>
                <a:latin typeface="Calibri"/>
              </a:rPr>
              <a:t>Release 1.2.2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1436" y="4937760"/>
            <a:ext cx="1801368" cy="310896"/>
          </a:xfrm>
          <a:prstGeom prst="roundRect">
            <a:avLst/>
          </a:prstGeom>
          <a:solidFill>
            <a:srgbClr val="1629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BFDBFE"/>
                </a:solidFill>
                <a:latin typeface="Calibri"/>
              </a:rPr>
              <a:t>ITIL 4-aligned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15684" y="4937760"/>
            <a:ext cx="2377440" cy="310896"/>
          </a:xfrm>
          <a:prstGeom prst="roundRect">
            <a:avLst/>
          </a:prstGeom>
          <a:solidFill>
            <a:srgbClr val="1629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BFDBFE"/>
                </a:solidFill>
                <a:latin typeface="Calibri"/>
              </a:rPr>
              <a:t>ServiceNow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76004" y="4937760"/>
            <a:ext cx="1801368" cy="310896"/>
          </a:xfrm>
          <a:prstGeom prst="roundRect">
            <a:avLst/>
          </a:prstGeom>
          <a:solidFill>
            <a:srgbClr val="1629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000" b="1">
                <a:solidFill>
                  <a:srgbClr val="BFDBFE"/>
                </a:solidFill>
                <a:latin typeface="Calibri"/>
              </a:rPr>
              <a:t>Evidence-based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What is OAS? (through the Major Incident lens)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 governed library of evidence-based analysis standards for operational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It complements ITIL &amp; ServiceNow — it does not replace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Every standard inherits OAS-000 and the evidence-first principle.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Today's focus: OAS-201 — Major Incident Communications.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5176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OAS-201 evaluates HOW an incident was communicated — not the fix.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749039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…and how it connects to OAS-000, 101, 301, 401, 501 and the KB.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The OAS Library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Calibri"/>
              </a:rPr>
              <a:t>OAS-000 governs all; the Knowledge Base is derived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468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BFDBFE"/>
                </a:solidFill>
                <a:latin typeface="Calibri"/>
              </a:rPr>
              <a:t>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4688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OAS-000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246888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OAS-501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25880"/>
            <a:ext cx="24688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BFDBFE"/>
                </a:solidFill>
                <a:latin typeface="Calibri"/>
              </a:rPr>
              <a:t>Methodologies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24688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OAS-101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23160"/>
            <a:ext cx="24688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OAS-201 MI Comms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63240"/>
            <a:ext cx="24688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OAS-301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3703320"/>
            <a:ext cx="24688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OAS-401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325880"/>
            <a:ext cx="274320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C4B5FD"/>
                </a:solidFill>
                <a:latin typeface="Calibri"/>
              </a:rPr>
              <a:t>Knowledge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7432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KB-001 … KB-006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834640"/>
            <a:ext cx="27432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Templates … Prompts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926080" y="2057400"/>
            <a:ext cx="1645920" cy="91440"/>
          </a:xfrm>
          <a:prstGeom prst="line">
            <a:avLst/>
          </a:prstGeom>
          <a:ln w="19050" prstDash="dash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2148840"/>
            <a:ext cx="1645920" cy="548640"/>
          </a:xfrm>
          <a:prstGeom prst="line">
            <a:avLst/>
          </a:prstGeom>
          <a:ln w="19050" prstDash="dash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26080" y="2148840"/>
            <a:ext cx="1645920" cy="1188720"/>
          </a:xfrm>
          <a:prstGeom prst="line">
            <a:avLst/>
          </a:prstGeom>
          <a:ln w="19050" prstDash="dash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2148840"/>
            <a:ext cx="1645920" cy="1828800"/>
          </a:xfrm>
          <a:prstGeom prst="line">
            <a:avLst/>
          </a:prstGeom>
          <a:ln w="19050" prstDash="dash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1640" y="2468880"/>
            <a:ext cx="0" cy="27432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40880" y="2057400"/>
            <a:ext cx="1737360" cy="18288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040880" y="2240280"/>
            <a:ext cx="1737360" cy="4572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040880" y="2240280"/>
            <a:ext cx="1737360" cy="109728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040880" y="2240280"/>
            <a:ext cx="1737360" cy="173736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926080" y="2240280"/>
            <a:ext cx="5852160" cy="82296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4937760"/>
            <a:ext cx="548640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Dashed blue = OAS-000 governs   ·   Purple = Knowledge Base derived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Where Major Incident lives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237744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834640"/>
            <a:ext cx="23774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Major Incident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Remediation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83464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206240"/>
            <a:ext cx="2377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Knowledge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246120"/>
            <a:ext cx="7315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35040" y="1828800"/>
            <a:ext cx="1463039" cy="141732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035040" y="3200400"/>
            <a:ext cx="1463039" cy="4572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3246120"/>
            <a:ext cx="1463039" cy="132588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4937760"/>
            <a:ext cx="1005840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 Major Incident is declared from an Incident, frequently drives a Problem and remediation Changes, and generates operational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OAS-201 — Major Incident Communications (the focus)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Purpose: evaluate effectiveness, timeliness, consistency, clarity &amp; governance of communications.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Scope: operational updates, executive, customer, vendor, bridge, MIM handovers.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94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Does: assess HOW the incident was communicated.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5394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Does NOT: re-do technical root-cause (OAS-301) or incident response (OAS-101).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OAS-201 — 8-phase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01168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 Comms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01168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3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 Timeliness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 Stakeholders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93192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6 MIM Handovers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93192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7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3931920"/>
            <a:ext cx="22860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8 Effectiveness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42316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20" y="242316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21040" y="242316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743200" y="2423160"/>
            <a:ext cx="6080760" cy="192024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3200" y="434340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32120" y="434340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4343400"/>
            <a:ext cx="502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Relationship map — Major Incident at the centre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834640"/>
            <a:ext cx="274320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OAS-201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Major Incident Comms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27432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OAS-000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OAS-101 Incident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OAS-301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484632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OAS-401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743200"/>
            <a:ext cx="237744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OAS-501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097280"/>
            <a:ext cx="237744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Knowledge Base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852160" y="1828800"/>
            <a:ext cx="274320" cy="100584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834640" y="3108960"/>
            <a:ext cx="1645920" cy="18288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34640" y="3291840"/>
            <a:ext cx="1645920" cy="164592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120640" y="3749040"/>
            <a:ext cx="731520" cy="109728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23760" y="3108960"/>
            <a:ext cx="2011680" cy="18288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23760" y="1463040"/>
            <a:ext cx="2011680" cy="182880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52160" y="1828800"/>
            <a:ext cx="274320" cy="1005840"/>
          </a:xfrm>
          <a:prstGeom prst="line">
            <a:avLst/>
          </a:prstGeom>
          <a:ln w="19050" prstDash="dash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OAS-000 — Governance (the foundation)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Inherits: Evidence First · Objectivity · Traceability · Transparency · Fact/Opinion separation.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Uses: Evidence Hierarchy (7 tiers), States, Classification, Confidence Model (H/M/L/U).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Lifecycle: Collect → Inventory → Classify → Analyse → Correlate → Timeline → Gaps → Confidence → Assess → Summarise.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Rule: no methodology may contradict OAS-000.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OAS-101 — Incident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03320"/>
                <a:gridCol w="3703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OAS-101 (Incident)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OAS-201 (Major Incident Comms)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Question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What happened &amp; how was it handled?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How was it communicated?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Output feeds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Operational facts, timeline, response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Stakeholder narrative &amp; cadence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Link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Primary record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Assesses comms about the same event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64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OAS-101 establishes the FACTS; OAS-201 assesses how those facts were COMMUNICATED. Their Related-Record assessment cross-links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OAS-301 — Problem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 Major Incident often spawns a Problem (PRB).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OAS-201's SITREPs &amp; narrative feed OAS-301's investigation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OAS-301 validates root cause; OAS-201 confirms stakeholders were informed during.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 Post Incident Review (PIR) ties both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OAS-401 — Change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064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Remediation Changes (401B) frequently follow a Major Incident.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OAS-401 assesses planning, risk, rollback symmetry &amp;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51760"/>
            <a:ext cx="5394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OAS-201 assesses comms during/after the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11064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Consistency check: did communications reflect the change's ACTUAL outcome (not just its closure)?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OAS-501 — Operational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23774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Major Incident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Lessons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554480"/>
            <a:ext cx="2377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Knowledge Article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743200"/>
            <a:ext cx="2377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Runbook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931920"/>
            <a:ext cx="237744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Known Error Article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743200"/>
            <a:ext cx="237744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OAS-501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governs quality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926080" y="1874520"/>
            <a:ext cx="914400" cy="128016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926080" y="3063240"/>
            <a:ext cx="914400" cy="9144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26080" y="3154680"/>
            <a:ext cx="914400" cy="109728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1874520"/>
            <a:ext cx="1371600" cy="128016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3063240"/>
            <a:ext cx="1371600" cy="9144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7920" y="3154680"/>
            <a:ext cx="1371600" cy="109728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4937760"/>
            <a:ext cx="1106424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Closed loop: analysis → knowledge → better future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↔ Knowledge Base (KB-001 … KB-006)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2860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OAS-501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94560"/>
            <a:ext cx="22860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00400"/>
            <a:ext cx="22860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OAS-201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KB-001 Templates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830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KB-002 Checklists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4688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KB-003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1546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KB-004 Examples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8404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KB-005 References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526280"/>
            <a:ext cx="384048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KB-006 Prompts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51760" y="1371600"/>
            <a:ext cx="3383280" cy="13716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651760" y="2057400"/>
            <a:ext cx="3383280" cy="4572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51760" y="2057400"/>
            <a:ext cx="3383280" cy="146304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51760" y="2514600"/>
            <a:ext cx="3383280" cy="2286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651760" y="3429000"/>
            <a:ext cx="3383280" cy="9144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2514600"/>
            <a:ext cx="3383280" cy="16002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2514600"/>
            <a:ext cx="3383280" cy="22860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3520440"/>
            <a:ext cx="3383280" cy="128016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" y="5029200"/>
            <a:ext cx="50292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OAS-201 contributes: comms runbooks, QA checklist, examples &amp; AI prompts.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Evidence &amp; Confidence in MI communications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Hierarchy: Primary MI record &gt; related &gt; vendor &gt; monitoring &gt; email &gt; user &gt; analyst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54864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States: classify every comms artefact — Present / Referenced / Missing / Not Applicable.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Confidence: rate every comms finding — High / Moderate / Low / Unknown.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5394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AI guardrails (OAS-000 §14): no invented evidence, no concealed uncertainty, human sign-off.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Worked example — MI000456 (Payment gateway)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703320"/>
                <a:gridCol w="370332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Stakeholder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Evidence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FDBFE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 anchor="ctr" marL="63500" marR="63500" marT="25400" marB="25400"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Operational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Bridge every 30 min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Strong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Executive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SITREP 03:00 / 05:00 / 07:00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Adequate cadence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Update 03:10 → next 06:45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3h35m gap during impact — weakness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Escalation 03:20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Effective</a:t>
                      </a:r>
                    </a:p>
                  </a:txBody>
                  <a:tcPr anchor="ctr" marL="63500" marR="63500" marT="25400" marB="25400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663440"/>
            <a:ext cx="1106424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Lesson: define a max customer-comms silence window during active SEV-1.  Confidence: High.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Analyst quick start — Major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Open OAS-201; read OAS-000 first if new.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Build an Evidence Manifest; classify every comms artefact.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Reconstruct the communication timeline.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Assess quality &amp; timeliness per stakeholder.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Evaluate MIM handover continuity only.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Assign confidence to each finding.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Complete the QA checklist (KB-002).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E2E8F0"/>
                </a:solidFill>
                <a:latin typeface="Calibri"/>
              </a:rPr>
              <a:t>•  Capture Lessons for Communication; feed OAS-501 / KB.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OAS-201 is the communications lens inside a connected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548640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All standards inherit OAS-000; none contradict.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94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The Knowledge Base is derived from the standards.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53949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Everything is evidence-first, confidence-rated, traceable.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FDBFE"/>
                </a:solidFill>
                <a:latin typeface="Calibri"/>
              </a:rPr>
              <a:t>OAS · Operational Analysis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44652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Major Incident Showcase · Release 1.2.2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BFDBFE"/>
                </a:solidFill>
                <a:latin typeface="Calibri"/>
              </a:rPr>
              <a:t>References &amp; closing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Standards: OAS-000 Governance · OAS-101 Incident · OAS-201 Major Incident Comms · OAS-301 Problem · OAS-401 Change · OAS-501 Knowledge.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Knowledge Base: KB-001 Templates · KB-002 Checklists · KB-003 Reports · KB-004 Examples · KB-005 References · KB-006 Prompts.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Release: 1.2.2   ·   Alignment: ITIL 4   ·   Reference platform: ServiceNow.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937760"/>
            <a:ext cx="1088136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25400" bIns="25400"/>
          <a:lstStyle/>
          <a:p>
            <a:pPr algn="ctr"/>
            <a:r>
              <a:rPr sz="1300" b="1">
                <a:solidFill>
                  <a:srgbClr val="BFDBFE"/>
                </a:solidFill>
                <a:latin typeface="Calibri"/>
              </a:rPr>
              <a:t>Evidence over opinion   ·   Governance before methodology   ·   Platform-agnostic, ServiceNow by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